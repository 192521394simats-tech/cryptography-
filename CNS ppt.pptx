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imes New Roman Bold" charset="1" panose="02020803070505020304"/>
      <p:regular r:id="rId23"/>
    </p:embeddedFont>
    <p:embeddedFont>
      <p:font typeface="Times New Roman" charset="1" panose="02020603050405020304"/>
      <p:regular r:id="rId24"/>
    </p:embeddedFont>
    <p:embeddedFont>
      <p:font typeface="TT Phobos Bold" charset="1" panose="02000803060000020004"/>
      <p:regular r:id="rId25"/>
    </p:embeddedFont>
    <p:embeddedFont>
      <p:font typeface="TT Phobos" charset="1" panose="02000503050000020004"/>
      <p:regular r:id="rId26"/>
    </p:embeddedFont>
    <p:embeddedFont>
      <p:font typeface="Times New Roman Italics" charset="1" panose="020205030504050903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ieeexplore.ieee.org/" TargetMode="External" Type="http://schemas.openxmlformats.org/officeDocument/2006/relationships/hyperlink"/><Relationship Id="rId3" Target="https://dl.acm.org/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4633" y="25718"/>
            <a:ext cx="17675666" cy="1920640"/>
            <a:chOff x="0" y="0"/>
            <a:chExt cx="23567555" cy="2560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67517" cy="2560828"/>
            </a:xfrm>
            <a:custGeom>
              <a:avLst/>
              <a:gdLst/>
              <a:ahLst/>
              <a:cxnLst/>
              <a:rect r="r" b="b" t="t" l="l"/>
              <a:pathLst>
                <a:path h="2560828" w="23567517">
                  <a:moveTo>
                    <a:pt x="0" y="0"/>
                  </a:moveTo>
                  <a:lnTo>
                    <a:pt x="23567517" y="0"/>
                  </a:lnTo>
                  <a:lnTo>
                    <a:pt x="23567517" y="2560828"/>
                  </a:lnTo>
                  <a:lnTo>
                    <a:pt x="0" y="256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954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5827" y="2645550"/>
            <a:ext cx="15861982" cy="2291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and Implementation of a Privacy-Preserving String-Matching Framework Using Searchable Encryption and Trusted Execution Environments(TEE)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73621" y="5359851"/>
            <a:ext cx="15408564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CSA5116-Cryptography And Network Security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3558" y="7686351"/>
            <a:ext cx="5824195" cy="87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Guided By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Dr E Anbalagan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89932" y="7547848"/>
            <a:ext cx="6978939" cy="254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Presented By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Atchaya Chandran R-192521394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Surabhi Surya P S-192421267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Vikram-192411166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Susidharan V-192521387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80560" y="419100"/>
            <a:ext cx="8622792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6686" y="2170557"/>
            <a:ext cx="16454628" cy="65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Enables secure string matching on sensitive data without exposing plaintext, addressing privacy risks in traditional pattern-matching methods.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Real-life problem: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Organizations like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hospitals and cloud service providers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search or match sensitive text data (e.g.,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patient records, financial documents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stored on untrusted third-party servers, but exposing this data in plaintext — even to the server performing the search — risks data breaches, regulatory violations (HIPAA/GDPR), and loss of user trust.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Approach: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Combines Searchable Encryption (query on ciphertext) with Trusted Execution Environments (isolated, tamper-resistant computation) for a hybrid security model.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Achieves efficient exact/approximate matching with reduced information leakage and lower overhead — ideal for genomic search, document retrieval, and encrypted cloud analytics.</a:t>
            </a:r>
          </a:p>
          <a:p>
            <a:pPr algn="just" marL="542925" indent="-271462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46520" y="41910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1859737"/>
            <a:ext cx="15028164" cy="65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Privacy-Preserving String Matching: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Enables secure string matching on encrypted data without revealing sensitive information to unauthorized users.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Searchable Encryption (SE):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users to search encrypted data efficiently without decrypting it, ensuring confidentiality and secure access.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Trusted Execution Environments (TEEs):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a secure hardware-protected environment to perform sensitive computations while preventing data leakage.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and Efficient Framework: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Integrates Searchable Encryption with TEEs to achieve fast, accurate, and privacy-preserving string matching in cloud environments.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Applications: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Improves data security and privacy in cloud storage, healthcare, finance, and other applications requiring secure information retrieval.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46520" y="41910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2090576"/>
            <a:ext cx="15028164" cy="607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develop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privacy-preserving framework for secure string matching on encrypted data.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implement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Searchable Encryption (SE) for efficient searching without decrypting sensitive information.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utilize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Trusted Execution Environments (TEEs) for secure and protected execution of search operations.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improve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accuracy, efficiency, and confidentiality of encrypted string matching in cloud environments.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ensure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secure data retrieval while protecting user privacy and preventing unauthorized data access.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46520" y="41910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1859737"/>
            <a:ext cx="15028164" cy="65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Sensitive data stored in cloud environments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vulnerable to unauthorized access during search and processing.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Traditional string matching methods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require data to be decrypted, increasing the risk of privacy breaches.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searchable encryption techniques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may suffer from performance overhead and information leakage.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Lack of secure execution environments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makes encrypted search operations vulnerable to attacks.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secure and efficient framework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needed to enable privacy-preserving string matching while maintaining high search accuracy and data confidentiality.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03632" y="762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41427" y="946404"/>
            <a:ext cx="17405147" cy="9160602"/>
            <a:chOff x="0" y="0"/>
            <a:chExt cx="23206862" cy="122141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06838" cy="12214098"/>
            </a:xfrm>
            <a:custGeom>
              <a:avLst/>
              <a:gdLst/>
              <a:ahLst/>
              <a:cxnLst/>
              <a:rect r="r" b="b" t="t" l="l"/>
              <a:pathLst>
                <a:path h="12214098" w="23206838">
                  <a:moveTo>
                    <a:pt x="0" y="0"/>
                  </a:moveTo>
                  <a:lnTo>
                    <a:pt x="23206838" y="0"/>
                  </a:lnTo>
                  <a:lnTo>
                    <a:pt x="23206838" y="12214098"/>
                  </a:lnTo>
                  <a:lnTo>
                    <a:pt x="0" y="12214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46520" y="41910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Techniques</a:t>
            </a:r>
            <a:r>
              <a:rPr lang="en-US" sz="6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9204" y="2438019"/>
            <a:ext cx="6505956" cy="727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Searchable Encryption (SE)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Execution Environment (TEE)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Symmetric Key Encryption (AES)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String Matching Algorithm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Cryptographic Hash Functions (SHA-256)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Key Management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Encrypted Data Indexing </a:t>
            </a:r>
          </a:p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Privacy-Preserving Cloud Computing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086600" y="2246119"/>
            <a:ext cx="11087100" cy="7515225"/>
            <a:chOff x="0" y="0"/>
            <a:chExt cx="14782800" cy="10020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82800" cy="10020300"/>
            </a:xfrm>
            <a:custGeom>
              <a:avLst/>
              <a:gdLst/>
              <a:ahLst/>
              <a:cxnLst/>
              <a:rect r="r" b="b" t="t" l="l"/>
              <a:pathLst>
                <a:path h="10020300" w="14782800">
                  <a:moveTo>
                    <a:pt x="0" y="0"/>
                  </a:moveTo>
                  <a:lnTo>
                    <a:pt x="14782800" y="0"/>
                  </a:lnTo>
                  <a:lnTo>
                    <a:pt x="14782800" y="10020300"/>
                  </a:lnTo>
                  <a:lnTo>
                    <a:pt x="0" y="1002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37" t="0" r="-837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67400" y="460248"/>
            <a:ext cx="9624060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Diagram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75588" y="1640100"/>
            <a:ext cx="15736824" cy="8362474"/>
            <a:chOff x="0" y="0"/>
            <a:chExt cx="20982432" cy="111499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82432" cy="11149965"/>
            </a:xfrm>
            <a:custGeom>
              <a:avLst/>
              <a:gdLst/>
              <a:ahLst/>
              <a:cxnLst/>
              <a:rect r="r" b="b" t="t" l="l"/>
              <a:pathLst>
                <a:path h="11149965" w="20982432">
                  <a:moveTo>
                    <a:pt x="0" y="0"/>
                  </a:moveTo>
                  <a:lnTo>
                    <a:pt x="20982432" y="0"/>
                  </a:lnTo>
                  <a:lnTo>
                    <a:pt x="20982432" y="11149965"/>
                  </a:lnTo>
                  <a:lnTo>
                    <a:pt x="0" y="11149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5927" y="117348"/>
            <a:ext cx="14461807" cy="193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1-Secure User Authentication &amp; Cryptographic Key Management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5184" y="2485968"/>
            <a:ext cx="8183308" cy="754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Registration and Secure Authentication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Verifies user identity before granting access to the system.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Cryptographic Key Generation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Generates secure encryption keys (AES/RSA) to protect sensitive data.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Key Storage and Management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Safely stores and manages cryptographic keys to prevent unauthorized access.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Access Control and Authorization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Ensures that only authenticated and authorized users can perform secure operations.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and Key Protection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Maintains the confidentiality and integrity of user data and encryption keys throughout the system.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791956" y="2459298"/>
            <a:ext cx="9415701" cy="7617466"/>
            <a:chOff x="0" y="0"/>
            <a:chExt cx="12554268" cy="101566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54204" cy="10156571"/>
            </a:xfrm>
            <a:custGeom>
              <a:avLst/>
              <a:gdLst/>
              <a:ahLst/>
              <a:cxnLst/>
              <a:rect r="r" b="b" t="t" l="l"/>
              <a:pathLst>
                <a:path h="10156571" w="12554204">
                  <a:moveTo>
                    <a:pt x="0" y="0"/>
                  </a:moveTo>
                  <a:lnTo>
                    <a:pt x="12554204" y="0"/>
                  </a:lnTo>
                  <a:lnTo>
                    <a:pt x="12554204" y="10156571"/>
                  </a:lnTo>
                  <a:lnTo>
                    <a:pt x="0" y="10156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795" t="0" r="-16796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6652" y="7620"/>
            <a:ext cx="13261848" cy="193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2-Secure Data Encryption &amp; Searchable Index Generation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" y="2135200"/>
            <a:ext cx="7608760" cy="796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Encryption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Encrypts sensitive data using strong encryption algorithms before storing it in the cloud.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Searchable Index Generation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Creates a secure searchable index that enables efficient searches over encrypted data.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Data Storage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Stores encrypted data and indexes securely without exposing the original information.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Privacy-Preserving Search Support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Allows authorized users to perform searches without decrypting the stored data.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Efficient Data Retrieval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Ensures fast, accurate, and secure retrieval of matching encrypted records.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037576" y="2304288"/>
            <a:ext cx="10250424" cy="7406640"/>
            <a:chOff x="0" y="0"/>
            <a:chExt cx="13667232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67232" cy="9875520"/>
            </a:xfrm>
            <a:custGeom>
              <a:avLst/>
              <a:gdLst/>
              <a:ahLst/>
              <a:cxnLst/>
              <a:rect r="r" b="b" t="t" l="l"/>
              <a:pathLst>
                <a:path h="9875520" w="13667232">
                  <a:moveTo>
                    <a:pt x="0" y="0"/>
                  </a:moveTo>
                  <a:lnTo>
                    <a:pt x="13667232" y="0"/>
                  </a:lnTo>
                  <a:lnTo>
                    <a:pt x="13667232" y="9875520"/>
                  </a:lnTo>
                  <a:lnTo>
                    <a:pt x="0" y="9875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053" t="0" r="-22053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1680" y="95145"/>
            <a:ext cx="15096744" cy="193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3-Privacy-Preserving Secure String-Matching Engine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" y="2483977"/>
            <a:ext cx="7679436" cy="754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String Matching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Performs string matching on encrypted data without revealing the original content.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Trusted Execution Environment (TEE)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Executes matching operations inside a secure hardware-protected environment.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Privacy-Preserving Search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Ensures that sensitive data remains confidential throughout the search process.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Accurate Matching Results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Identifies matching strings efficiently while maintaining high search accuracy.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Processing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Protects search operations from unauthorized access and information leakage.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339328" y="2457307"/>
            <a:ext cx="9573768" cy="7617466"/>
            <a:chOff x="0" y="0"/>
            <a:chExt cx="12765024" cy="101566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65024" cy="10156571"/>
            </a:xfrm>
            <a:custGeom>
              <a:avLst/>
              <a:gdLst/>
              <a:ahLst/>
              <a:cxnLst/>
              <a:rect r="r" b="b" t="t" l="l"/>
              <a:pathLst>
                <a:path h="10156571" w="12765024">
                  <a:moveTo>
                    <a:pt x="0" y="0"/>
                  </a:moveTo>
                  <a:lnTo>
                    <a:pt x="12765024" y="0"/>
                  </a:lnTo>
                  <a:lnTo>
                    <a:pt x="12765024" y="10156571"/>
                  </a:lnTo>
                  <a:lnTo>
                    <a:pt x="0" y="10156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574" r="0" b="-657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1680" y="95145"/>
            <a:ext cx="15096744" cy="193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4-Secure Result Verification, Auditing &amp; Attack Detection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8996" y="2467308"/>
            <a:ext cx="8529828" cy="754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Result Verification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Verifies the correctness and integrity of search results before they are returned to the user.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Audit Log Generation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Records user activities and search operations for transparency and accountability.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Attack Detection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Monitors the system to identify unauthorized access, suspicious behaviour, and potential security threats.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Integrity and Privacy Protection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Ensures that data remains secure and unaltered during retrieval and verification.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Monitoring and Reporting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Generates alerts and security reports to support continuous system monitoring and threat response.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60052" y="2440638"/>
            <a:ext cx="7848600" cy="7297055"/>
            <a:chOff x="0" y="0"/>
            <a:chExt cx="10464800" cy="97294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4800" cy="9729470"/>
            </a:xfrm>
            <a:custGeom>
              <a:avLst/>
              <a:gdLst/>
              <a:ahLst/>
              <a:cxnLst/>
              <a:rect r="r" b="b" t="t" l="l"/>
              <a:pathLst>
                <a:path h="9729470" w="10464800">
                  <a:moveTo>
                    <a:pt x="0" y="0"/>
                  </a:moveTo>
                  <a:lnTo>
                    <a:pt x="10464800" y="0"/>
                  </a:lnTo>
                  <a:lnTo>
                    <a:pt x="10464800" y="9729470"/>
                  </a:lnTo>
                  <a:lnTo>
                    <a:pt x="0" y="972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410" t="0" r="-2441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0096" y="762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2678" y="1324385"/>
            <a:ext cx="16582644" cy="8619715"/>
            <a:chOff x="0" y="0"/>
            <a:chExt cx="22110192" cy="11492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10192" cy="11492992"/>
            </a:xfrm>
            <a:custGeom>
              <a:avLst/>
              <a:gdLst/>
              <a:ahLst/>
              <a:cxnLst/>
              <a:rect r="r" b="b" t="t" l="l"/>
              <a:pathLst>
                <a:path h="11492992" w="22110192">
                  <a:moveTo>
                    <a:pt x="0" y="0"/>
                  </a:moveTo>
                  <a:lnTo>
                    <a:pt x="22110192" y="0"/>
                  </a:lnTo>
                  <a:lnTo>
                    <a:pt x="22110192" y="11492992"/>
                  </a:lnTo>
                  <a:lnTo>
                    <a:pt x="0" y="11492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530" r="0" b="-953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1280" y="17526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2090576"/>
            <a:ext cx="15028164" cy="6308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performs accurate string matching on encrypted data without exposing sensitive information.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Protects confidential data using Searchable Encryption and Trusted Execution Environments (TEEs).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fast and accurate search results while maintaining data privacy and confidentiality.</a:t>
            </a:r>
          </a:p>
          <a:p>
            <a:pPr algn="just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 unauthorized access through secure authentication, encryption, and attack detection mechanisms.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secure, accurate, and trustworthy retrieval of encrypted information with result verification.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1280" y="17526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1859737"/>
            <a:ext cx="15028164" cy="65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framework enables secure and privacy-preserving string matching on encrypted data.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Searchable Encryption and Trusted Execution Environments ensure strong data confidentiality and secure processing.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provides efficient and accurate search results without revealing sensitive information.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authentication, encryption, and attack detection improve the overall reliability of the framework.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framework is suitable for cloud storage, healthcare, finance, and other applications requiring secure data retrieval.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16942" y="762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8628" y="1376534"/>
            <a:ext cx="17747932" cy="819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Institute of Standards and Technology (NIST),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Searchable Encryption and Cryptographic Standards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NIST Publications, 2024. </a:t>
            </a:r>
          </a:p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Organization for Standardization (ISO),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ISO/IEC 27001:2022 – Information Security, Cybersecurity and Privacy Protection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ISO, 2022. </a:t>
            </a:r>
          </a:p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Corporation,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Intel® Software Guard Extensions (Intel SGX) Developer Guide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Intel, 2024. </a:t>
            </a:r>
          </a:p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Security Alliance (CSA),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Security Guidance for Critical Areas of Focus in Cloud Computing v5.0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Cloud Security Alliance, 2024. </a:t>
            </a:r>
          </a:p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 Corporation,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Microsoft Azure Confidential Computing Documentation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Microsoft, 2024. </a:t>
            </a:r>
          </a:p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Cloud,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Confidential Computing and Data Protection Documentation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Google LLC, 2024. </a:t>
            </a:r>
          </a:p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Amazon Web Services,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AWS Encryption SDK and Security Best Practices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Amazon Web Services, 2024. </a:t>
            </a:r>
          </a:p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 Digital Library,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Research Articles on Searchable Encryption, Trusted Execution Environments (TEEs), and Privacy-Preserving Data Search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00" u="sng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ieeexplore.ieee.org/"/>
              </a:rPr>
              <a:t>https://ieeexplore.ieee.org/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ACM Digital Library,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Research Papers on Secure String Matching and Searchable Encryption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300" u="sng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dl.acm.org/"/>
              </a:rPr>
              <a:t>https://dl.acm.org/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3960"/>
              </a:lnSpc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Institute of Standards and Technology (NIST), </a:t>
            </a:r>
            <a:r>
              <a:rPr lang="en-US" sz="330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Cybersecurity Framework (CSF) 2.0</a:t>
            </a: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NIST, 2024.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4313" y="531324"/>
            <a:ext cx="16939365" cy="9224353"/>
            <a:chOff x="0" y="0"/>
            <a:chExt cx="22585820" cy="12299137"/>
          </a:xfrm>
        </p:grpSpPr>
        <p:sp>
          <p:nvSpPr>
            <p:cNvPr name="Freeform 3" id="3" descr="Thank you Images - Free Download on Magnific (formerly Freepik)"/>
            <p:cNvSpPr/>
            <p:nvPr/>
          </p:nvSpPr>
          <p:spPr>
            <a:xfrm flipH="false" flipV="false" rot="0">
              <a:off x="0" y="0"/>
              <a:ext cx="22585807" cy="12299188"/>
            </a:xfrm>
            <a:custGeom>
              <a:avLst/>
              <a:gdLst/>
              <a:ahLst/>
              <a:cxnLst/>
              <a:rect r="r" b="b" t="t" l="l"/>
              <a:pathLst>
                <a:path h="12299188" w="22585807">
                  <a:moveTo>
                    <a:pt x="0" y="0"/>
                  </a:moveTo>
                  <a:lnTo>
                    <a:pt x="22585807" y="0"/>
                  </a:lnTo>
                  <a:lnTo>
                    <a:pt x="22585807" y="12299188"/>
                  </a:lnTo>
                  <a:lnTo>
                    <a:pt x="0" y="12299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171" r="0" b="-1117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DAHTkWPhYvA</dc:identifier>
  <dcterms:modified xsi:type="dcterms:W3CDTF">2011-08-01T06:04:30Z</dcterms:modified>
  <cp:revision>1</cp:revision>
  <dc:title>CNS ppt-2.pptx</dc:title>
</cp:coreProperties>
</file>